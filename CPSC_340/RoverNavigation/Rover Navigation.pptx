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d9fdd47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d9fdd47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d9fdd47f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d9fdd47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d9fdd47f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d9fdd47f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d9fdd47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d9fdd47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d9fdd47f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d9fdd47f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d9fdd47f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d9fdd47f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d9fdd47f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d9fdd47f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d9fdd47f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d9fdd47f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Rover Navigation Project</a:t>
            </a:r>
            <a:endParaRPr/>
          </a:p>
        </p:txBody>
      </p:sp>
      <p:sp>
        <p:nvSpPr>
          <p:cNvPr id="59" name="Google Shape;59;p13"/>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Tori Jackson</a:t>
            </a:r>
            <a:endParaRPr/>
          </a:p>
        </p:txBody>
      </p:sp>
      <p:sp>
        <p:nvSpPr>
          <p:cNvPr id="60" name="Google Shape;60;p13"/>
          <p:cNvSpPr txBox="1"/>
          <p:nvPr>
            <p:ph idx="1" type="subTitle"/>
          </p:nvPr>
        </p:nvSpPr>
        <p:spPr>
          <a:xfrm>
            <a:off x="544975" y="2220250"/>
            <a:ext cx="8520600" cy="286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SzPct val="77000"/>
              <a:buNone/>
            </a:pPr>
            <a:r>
              <a:rPr lang="en" sz="1000"/>
              <a:t>Seed used for presentation: 152673</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Rover has landed on the planet Reach, searching a new habitable planet for humans. The team behind it has located interesting landmarks from space, and has tasked the Rover to get there as quickly as possible:</a:t>
            </a:r>
            <a:endParaRPr/>
          </a:p>
          <a:p>
            <a:pPr indent="-342900" lvl="0" marL="457200" rtl="0" algn="l">
              <a:spcBef>
                <a:spcPts val="1200"/>
              </a:spcBef>
              <a:spcAft>
                <a:spcPts val="0"/>
              </a:spcAft>
              <a:buSzPts val="1800"/>
              <a:buChar char="●"/>
            </a:pPr>
            <a:r>
              <a:rPr b="1" lang="en"/>
              <a:t>Valles Zeta</a:t>
            </a:r>
            <a:r>
              <a:rPr lang="en"/>
              <a:t> – Bio-signature detection zone</a:t>
            </a:r>
            <a:endParaRPr/>
          </a:p>
          <a:p>
            <a:pPr indent="-342900" lvl="0" marL="457200" rtl="0" algn="l">
              <a:spcBef>
                <a:spcPts val="0"/>
              </a:spcBef>
              <a:spcAft>
                <a:spcPts val="0"/>
              </a:spcAft>
              <a:buSzPts val="1800"/>
              <a:buChar char="●"/>
            </a:pPr>
            <a:r>
              <a:rPr b="1" lang="en"/>
              <a:t>Olympus Langrenus </a:t>
            </a:r>
            <a:r>
              <a:rPr lang="en"/>
              <a:t>– Unusual rock formation with trace elements</a:t>
            </a:r>
            <a:endParaRPr/>
          </a:p>
          <a:p>
            <a:pPr indent="-342900" lvl="0" marL="457200" rtl="0" algn="l">
              <a:spcBef>
                <a:spcPts val="0"/>
              </a:spcBef>
              <a:spcAft>
                <a:spcPts val="0"/>
              </a:spcAft>
              <a:buSzPts val="1800"/>
              <a:buChar char="●"/>
            </a:pPr>
            <a:r>
              <a:rPr b="1" lang="en"/>
              <a:t>Crater Tycho</a:t>
            </a:r>
            <a:r>
              <a:rPr lang="en"/>
              <a:t> – Site of geological anomaly</a:t>
            </a:r>
            <a:endParaRPr/>
          </a:p>
          <a:p>
            <a:pPr indent="-342900" lvl="0" marL="457200" rtl="0" algn="l">
              <a:spcBef>
                <a:spcPts val="0"/>
              </a:spcBef>
              <a:spcAft>
                <a:spcPts val="0"/>
              </a:spcAft>
              <a:buSzPts val="1800"/>
              <a:buChar char="●"/>
            </a:pPr>
            <a:r>
              <a:rPr b="1" lang="en"/>
              <a:t>Valles Gamma </a:t>
            </a:r>
            <a:r>
              <a:rPr lang="en"/>
              <a:t>– Unusual rock formation with trace elements</a:t>
            </a:r>
            <a:endParaRPr/>
          </a:p>
          <a:p>
            <a:pPr indent="-342900" lvl="0" marL="457200" rtl="0" algn="l">
              <a:spcBef>
                <a:spcPts val="0"/>
              </a:spcBef>
              <a:spcAft>
                <a:spcPts val="0"/>
              </a:spcAft>
              <a:buSzPts val="1800"/>
              <a:buChar char="●"/>
            </a:pPr>
            <a:r>
              <a:rPr b="1" lang="en"/>
              <a:t>Sea of Theta </a:t>
            </a:r>
            <a:r>
              <a:rPr lang="en"/>
              <a:t>– Unusual rock formation with trace elements</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Mapping with Adjacency Matrix</a:t>
            </a:r>
            <a:endParaRPr/>
          </a:p>
        </p:txBody>
      </p:sp>
      <p:sp>
        <p:nvSpPr>
          <p:cNvPr id="72" name="Google Shape;72;p15"/>
          <p:cNvSpPr txBox="1"/>
          <p:nvPr>
            <p:ph idx="1" type="body"/>
          </p:nvPr>
        </p:nvSpPr>
        <p:spPr>
          <a:xfrm>
            <a:off x="311700" y="1389600"/>
            <a:ext cx="8484600" cy="13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Index: (</a:t>
            </a:r>
            <a:r>
              <a:rPr lang="en"/>
              <a:t>x+1)*(y+1), move up if full</a:t>
            </a:r>
            <a:endParaRPr/>
          </a:p>
          <a:p>
            <a:pPr indent="0" lvl="0" marL="0" rtl="0" algn="l">
              <a:spcBef>
                <a:spcPts val="0"/>
              </a:spcBef>
              <a:spcAft>
                <a:spcPts val="0"/>
              </a:spcAft>
              <a:buNone/>
            </a:pPr>
            <a:r>
              <a:rPr lang="en"/>
              <a:t>Connection tracker: the cost of distance between the nodes (assuming start = 0)</a:t>
            </a:r>
            <a:endParaRPr/>
          </a:p>
          <a:p>
            <a:pPr indent="0" lvl="0" marL="0" rtl="0" algn="l">
              <a:spcBef>
                <a:spcPts val="0"/>
              </a:spcBef>
              <a:spcAft>
                <a:spcPts val="0"/>
              </a:spcAft>
              <a:buNone/>
            </a:pPr>
            <a:r>
              <a:rPr lang="en"/>
              <a:t>Pros:</a:t>
            </a:r>
            <a:endParaRPr/>
          </a:p>
          <a:p>
            <a:pPr indent="-304800" lvl="0" marL="457200" rtl="0" algn="l">
              <a:spcBef>
                <a:spcPts val="0"/>
              </a:spcBef>
              <a:spcAft>
                <a:spcPts val="0"/>
              </a:spcAft>
              <a:buSzPts val="1200"/>
              <a:buChar char="●"/>
            </a:pPr>
            <a:r>
              <a:rPr lang="en"/>
              <a:t>Can easily obtain the cost of each node</a:t>
            </a:r>
            <a:endParaRPr/>
          </a:p>
          <a:p>
            <a:pPr indent="0" lvl="0" marL="0" rtl="0" algn="l">
              <a:spcBef>
                <a:spcPts val="0"/>
              </a:spcBef>
              <a:spcAft>
                <a:spcPts val="0"/>
              </a:spcAft>
              <a:buNone/>
            </a:pPr>
            <a:r>
              <a:rPr lang="en"/>
              <a:t>Cons:</a:t>
            </a:r>
            <a:endParaRPr/>
          </a:p>
          <a:p>
            <a:pPr indent="-304800" lvl="0" marL="457200" rtl="0" algn="l">
              <a:spcBef>
                <a:spcPts val="0"/>
              </a:spcBef>
              <a:spcAft>
                <a:spcPts val="0"/>
              </a:spcAft>
              <a:buSzPts val="1200"/>
              <a:buChar char="●"/>
            </a:pPr>
            <a:r>
              <a:rPr lang="en"/>
              <a:t>Will leave a lot of blanks for impassable nodes, as well as nodes that don’t connect to each other</a:t>
            </a:r>
            <a:endParaRPr/>
          </a:p>
        </p:txBody>
      </p:sp>
      <p:sp>
        <p:nvSpPr>
          <p:cNvPr id="73" name="Google Shape;73;p15"/>
          <p:cNvSpPr txBox="1"/>
          <p:nvPr/>
        </p:nvSpPr>
        <p:spPr>
          <a:xfrm>
            <a:off x="398875" y="2780400"/>
            <a:ext cx="5036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Ex: Connections of (8,6)</a:t>
            </a:r>
            <a:r>
              <a:rPr lang="en" sz="1800">
                <a:solidFill>
                  <a:schemeClr val="dk2"/>
                </a:solidFill>
              </a:rPr>
              <a:t>, Index 48</a:t>
            </a:r>
            <a:endParaRPr sz="1800">
              <a:solidFill>
                <a:schemeClr val="dk2"/>
              </a:solidFill>
            </a:endParaRPr>
          </a:p>
          <a:p>
            <a:pPr indent="0" lvl="0" marL="0" rtl="0" algn="l">
              <a:spcBef>
                <a:spcPts val="0"/>
              </a:spcBef>
              <a:spcAft>
                <a:spcPts val="0"/>
              </a:spcAft>
              <a:buNone/>
            </a:pPr>
            <a:r>
              <a:rPr lang="en" sz="1800">
                <a:solidFill>
                  <a:schemeClr val="dk2"/>
                </a:solidFill>
              </a:rPr>
              <a:t>(Indexes between missing for size)</a:t>
            </a:r>
            <a:endParaRPr sz="1800">
              <a:solidFill>
                <a:schemeClr val="dk2"/>
              </a:solidFill>
            </a:endParaRPr>
          </a:p>
        </p:txBody>
      </p:sp>
      <p:pic>
        <p:nvPicPr>
          <p:cNvPr id="74" name="Google Shape;74;p15"/>
          <p:cNvPicPr preferRelativeResize="0"/>
          <p:nvPr/>
        </p:nvPicPr>
        <p:blipFill rotWithShape="1">
          <a:blip r:embed="rId3">
            <a:alphaModFix/>
          </a:blip>
          <a:srcRect b="0" l="11378" r="0" t="12457"/>
          <a:stretch/>
        </p:blipFill>
        <p:spPr>
          <a:xfrm>
            <a:off x="966600" y="3440625"/>
            <a:ext cx="7335001" cy="1602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Mapping with </a:t>
            </a:r>
            <a:r>
              <a:rPr lang="en"/>
              <a:t>Indices</a:t>
            </a:r>
            <a:r>
              <a:rPr lang="en"/>
              <a:t> List</a:t>
            </a:r>
            <a:endParaRPr/>
          </a:p>
        </p:txBody>
      </p:sp>
      <p:sp>
        <p:nvSpPr>
          <p:cNvPr id="80" name="Google Shape;80;p1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Main Index: (x+1)*(y+1), move up if full</a:t>
            </a:r>
            <a:endParaRPr/>
          </a:p>
          <a:p>
            <a:pPr indent="0" lvl="0" marL="0" rtl="0" algn="l">
              <a:spcBef>
                <a:spcPts val="1200"/>
              </a:spcBef>
              <a:spcAft>
                <a:spcPts val="0"/>
              </a:spcAft>
              <a:buClr>
                <a:schemeClr val="dk1"/>
              </a:buClr>
              <a:buSzPts val="1100"/>
              <a:buFont typeface="Arial"/>
              <a:buNone/>
            </a:pPr>
            <a:r>
              <a:rPr lang="en"/>
              <a:t>Connection tracker: vector of connections with cost</a:t>
            </a:r>
            <a:endParaRPr/>
          </a:p>
          <a:p>
            <a:pPr indent="0" lvl="0" marL="0" rtl="0" algn="l">
              <a:spcBef>
                <a:spcPts val="1200"/>
              </a:spcBef>
              <a:spcAft>
                <a:spcPts val="0"/>
              </a:spcAft>
              <a:buClr>
                <a:schemeClr val="dk1"/>
              </a:buClr>
              <a:buSzPts val="1100"/>
              <a:buFont typeface="Arial"/>
              <a:buNone/>
            </a:pPr>
            <a:r>
              <a:rPr lang="en"/>
              <a:t>Pros:</a:t>
            </a:r>
            <a:endParaRPr/>
          </a:p>
          <a:p>
            <a:pPr indent="-304800" lvl="0" marL="457200" rtl="0" algn="l">
              <a:spcBef>
                <a:spcPts val="1200"/>
              </a:spcBef>
              <a:spcAft>
                <a:spcPts val="0"/>
              </a:spcAft>
              <a:buSzPts val="1200"/>
              <a:buChar char="●"/>
            </a:pPr>
            <a:r>
              <a:rPr lang="en"/>
              <a:t>Saves memory by avoiding any non-connecting nodes</a:t>
            </a:r>
            <a:endParaRPr/>
          </a:p>
          <a:p>
            <a:pPr indent="0" lvl="0" marL="0" rtl="0" algn="l">
              <a:spcBef>
                <a:spcPts val="1200"/>
              </a:spcBef>
              <a:spcAft>
                <a:spcPts val="0"/>
              </a:spcAft>
              <a:buClr>
                <a:schemeClr val="dk1"/>
              </a:buClr>
              <a:buSzPts val="1100"/>
              <a:buFont typeface="Arial"/>
              <a:buNone/>
            </a:pPr>
            <a:r>
              <a:rPr lang="en"/>
              <a:t>Cons:</a:t>
            </a:r>
            <a:endParaRPr/>
          </a:p>
          <a:p>
            <a:pPr indent="-304800" lvl="0" marL="457200" rtl="0" algn="l">
              <a:spcBef>
                <a:spcPts val="1200"/>
              </a:spcBef>
              <a:spcAft>
                <a:spcPts val="0"/>
              </a:spcAft>
              <a:buSzPts val="1200"/>
              <a:buChar char="●"/>
            </a:pPr>
            <a:r>
              <a:rPr lang="en"/>
              <a:t>Can only get one connection at a time (but this is bypassed by the algorithms iterating between each node)</a:t>
            </a:r>
            <a:endParaRPr/>
          </a:p>
        </p:txBody>
      </p:sp>
      <p:sp>
        <p:nvSpPr>
          <p:cNvPr id="81" name="Google Shape;81;p16"/>
          <p:cNvSpPr txBox="1"/>
          <p:nvPr/>
        </p:nvSpPr>
        <p:spPr>
          <a:xfrm>
            <a:off x="4131125" y="599500"/>
            <a:ext cx="503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Ex: Connections of (8,6), Index 48</a:t>
            </a:r>
            <a:endParaRPr sz="1800">
              <a:solidFill>
                <a:schemeClr val="dk2"/>
              </a:solidFill>
            </a:endParaRPr>
          </a:p>
        </p:txBody>
      </p:sp>
      <p:pic>
        <p:nvPicPr>
          <p:cNvPr id="82" name="Google Shape;82;p16" title="Untitled drawing.png"/>
          <p:cNvPicPr preferRelativeResize="0"/>
          <p:nvPr/>
        </p:nvPicPr>
        <p:blipFill rotWithShape="1">
          <a:blip r:embed="rId3">
            <a:alphaModFix/>
          </a:blip>
          <a:srcRect b="41985" l="13845" r="0" t="30225"/>
          <a:stretch/>
        </p:blipFill>
        <p:spPr>
          <a:xfrm>
            <a:off x="3119700" y="1812175"/>
            <a:ext cx="6024300" cy="14977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 </a:t>
            </a:r>
            <a:r>
              <a:rPr lang="en"/>
              <a:t>Dijkstra's Algorithm</a:t>
            </a:r>
            <a:endParaRPr/>
          </a:p>
        </p:txBody>
      </p:sp>
      <p:sp>
        <p:nvSpPr>
          <p:cNvPr id="88" name="Google Shape;88;p17"/>
          <p:cNvSpPr txBox="1"/>
          <p:nvPr>
            <p:ph idx="1" type="body"/>
          </p:nvPr>
        </p:nvSpPr>
        <p:spPr>
          <a:xfrm>
            <a:off x="311700" y="1152475"/>
            <a:ext cx="8520600" cy="2362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function takes 2 </a:t>
            </a:r>
            <a:r>
              <a:rPr lang="en"/>
              <a:t>parameters</a:t>
            </a:r>
            <a:r>
              <a:rPr lang="en"/>
              <a:t>: a start node and the planet graph</a:t>
            </a:r>
            <a:endParaRPr/>
          </a:p>
          <a:p>
            <a:pPr indent="0" lvl="0" marL="0" rtl="0" algn="l">
              <a:spcBef>
                <a:spcPts val="1200"/>
              </a:spcBef>
              <a:spcAft>
                <a:spcPts val="0"/>
              </a:spcAft>
              <a:buNone/>
            </a:pPr>
            <a:r>
              <a:rPr lang="en"/>
              <a:t>Before the actual looping begins, DjkstraResult’s </a:t>
            </a:r>
            <a:r>
              <a:rPr lang="en"/>
              <a:t>hashmaps</a:t>
            </a:r>
            <a:r>
              <a:rPr lang="en"/>
              <a:t> are initialized: all node’s costs are equal to infinity(or a maximum number) and their previous nodes are equal to nullptr, that way they can be updated later.</a:t>
            </a:r>
            <a:endParaRPr/>
          </a:p>
          <a:p>
            <a:pPr indent="0" lvl="0" marL="0" rtl="0" algn="l">
              <a:spcBef>
                <a:spcPts val="1200"/>
              </a:spcBef>
              <a:spcAft>
                <a:spcPts val="1200"/>
              </a:spcAft>
              <a:buNone/>
            </a:pPr>
            <a:r>
              <a:rPr lang="en"/>
              <a:t>From there, the start node’s distance in initialized to 0, and a min heap is created to pop out the node with the smallest cost. From there, the start node is pushed.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 Dijkstra's Algorithm</a:t>
            </a:r>
            <a:endParaRPr/>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While the heap isn’t empty:</a:t>
            </a:r>
            <a:endParaRPr/>
          </a:p>
          <a:p>
            <a:pPr indent="-342900" lvl="0" marL="457200" rtl="0" algn="l">
              <a:spcBef>
                <a:spcPts val="0"/>
              </a:spcBef>
              <a:spcAft>
                <a:spcPts val="0"/>
              </a:spcAft>
              <a:buSzPts val="1800"/>
              <a:buAutoNum type="arabicPeriod"/>
            </a:pPr>
            <a:r>
              <a:rPr lang="en"/>
              <a:t>Get the current node and it’s distance before popping it</a:t>
            </a:r>
            <a:endParaRPr/>
          </a:p>
          <a:p>
            <a:pPr indent="-342900" lvl="0" marL="457200" rtl="0" algn="l">
              <a:spcBef>
                <a:spcPts val="0"/>
              </a:spcBef>
              <a:spcAft>
                <a:spcPts val="0"/>
              </a:spcAft>
              <a:buSzPts val="1800"/>
              <a:buAutoNum type="arabicPeriod"/>
            </a:pPr>
            <a:r>
              <a:rPr lang="en"/>
              <a:t>Each node has a vector of it’s </a:t>
            </a:r>
            <a:r>
              <a:rPr lang="en"/>
              <a:t>edge connection</a:t>
            </a:r>
            <a:r>
              <a:rPr lang="en"/>
              <a:t>, so for each one:</a:t>
            </a:r>
            <a:endParaRPr/>
          </a:p>
          <a:p>
            <a:pPr indent="-317500" lvl="1" marL="914400" rtl="0" algn="l">
              <a:spcBef>
                <a:spcPts val="0"/>
              </a:spcBef>
              <a:spcAft>
                <a:spcPts val="0"/>
              </a:spcAft>
              <a:buSzPts val="1400"/>
              <a:buAutoNum type="alphaLcPeriod"/>
            </a:pPr>
            <a:r>
              <a:rPr lang="en"/>
              <a:t>Get the destination node and it’s distance (and add the current distance to it)</a:t>
            </a:r>
            <a:endParaRPr/>
          </a:p>
          <a:p>
            <a:pPr indent="-317500" lvl="1" marL="914400" rtl="0" algn="l">
              <a:spcBef>
                <a:spcPts val="0"/>
              </a:spcBef>
              <a:spcAft>
                <a:spcPts val="0"/>
              </a:spcAft>
              <a:buSzPts val="1400"/>
              <a:buAutoNum type="alphaLcPeriod"/>
            </a:pPr>
            <a:r>
              <a:rPr lang="en"/>
              <a:t>If that distance is less that the given distance in the hashmap:</a:t>
            </a:r>
            <a:endParaRPr/>
          </a:p>
          <a:p>
            <a:pPr indent="-317500" lvl="2" marL="1371600" rtl="0" algn="l">
              <a:spcBef>
                <a:spcPts val="0"/>
              </a:spcBef>
              <a:spcAft>
                <a:spcPts val="0"/>
              </a:spcAft>
              <a:buSzPts val="1400"/>
              <a:buAutoNum type="romanLcPeriod"/>
            </a:pPr>
            <a:r>
              <a:rPr lang="en"/>
              <a:t>Change the hashmap cost, set the current as the previous node, and push in the new value and the node to the heap.</a:t>
            </a:r>
            <a:endParaRPr/>
          </a:p>
          <a:p>
            <a:pPr indent="-317500" lvl="2" marL="1371600" rtl="0" algn="l">
              <a:spcBef>
                <a:spcPts val="0"/>
              </a:spcBef>
              <a:spcAft>
                <a:spcPts val="0"/>
              </a:spcAft>
              <a:buSzPts val="1400"/>
              <a:buAutoNum type="romanLcPeriod"/>
            </a:pPr>
            <a:r>
              <a:rPr lang="en"/>
              <a:t>If not, continue on. The heap will run out eventually.</a:t>
            </a:r>
            <a:endParaRPr/>
          </a:p>
          <a:p>
            <a:pPr indent="0" lvl="0" marL="0" rtl="0" algn="l">
              <a:spcBef>
                <a:spcPts val="0"/>
              </a:spcBef>
              <a:spcAft>
                <a:spcPts val="0"/>
              </a:spcAft>
              <a:buNone/>
            </a:pPr>
            <a:r>
              <a:rPr lang="en"/>
              <a:t>From there, the DijkstraResult will create a vector with all the nodes starting from the end, using the previous pointers, then it will reverse and be returned to the program.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 Uniform Cost Search</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search works </a:t>
            </a:r>
            <a:r>
              <a:rPr lang="en"/>
              <a:t>similarly</a:t>
            </a:r>
            <a:r>
              <a:rPr lang="en"/>
              <a:t> to </a:t>
            </a:r>
            <a:r>
              <a:rPr lang="en"/>
              <a:t>Dijkstra's Algorithm, but since there’s no access to the full graph, the distance and previous hashmaps are created in the function, with and additional vector to track whether nodes have already been visited. The </a:t>
            </a:r>
            <a:r>
              <a:rPr lang="en"/>
              <a:t>parameters</a:t>
            </a:r>
            <a:r>
              <a:rPr lang="en"/>
              <a:t> taken are the start node and the target node.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 Uniform Cost Search</a:t>
            </a:r>
            <a:endParaRPr/>
          </a:p>
        </p:txBody>
      </p:sp>
      <p:sp>
        <p:nvSpPr>
          <p:cNvPr id="106" name="Google Shape;106;p20"/>
          <p:cNvSpPr txBox="1"/>
          <p:nvPr>
            <p:ph idx="1" type="body"/>
          </p:nvPr>
        </p:nvSpPr>
        <p:spPr>
          <a:xfrm>
            <a:off x="311700" y="1152475"/>
            <a:ext cx="8520600" cy="384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While the heap isn’t empty:</a:t>
            </a:r>
            <a:endParaRPr/>
          </a:p>
          <a:p>
            <a:pPr indent="-342900" lvl="0" marL="457200" rtl="0" algn="l">
              <a:spcBef>
                <a:spcPts val="0"/>
              </a:spcBef>
              <a:spcAft>
                <a:spcPts val="0"/>
              </a:spcAft>
              <a:buSzPts val="1800"/>
              <a:buAutoNum type="arabicPeriod"/>
            </a:pPr>
            <a:r>
              <a:rPr lang="en"/>
              <a:t>Get the current node and it’s distance before popping it</a:t>
            </a:r>
            <a:endParaRPr/>
          </a:p>
          <a:p>
            <a:pPr indent="-342900" lvl="0" marL="457200" rtl="0" algn="l">
              <a:spcBef>
                <a:spcPts val="0"/>
              </a:spcBef>
              <a:spcAft>
                <a:spcPts val="0"/>
              </a:spcAft>
              <a:buSzPts val="1800"/>
              <a:buAutoNum type="arabicPeriod"/>
            </a:pPr>
            <a:r>
              <a:rPr lang="en"/>
              <a:t>If the current node is the target, break the loop</a:t>
            </a:r>
            <a:endParaRPr/>
          </a:p>
          <a:p>
            <a:pPr indent="-342900" lvl="0" marL="457200" rtl="0" algn="l">
              <a:spcBef>
                <a:spcPts val="0"/>
              </a:spcBef>
              <a:spcAft>
                <a:spcPts val="0"/>
              </a:spcAft>
              <a:buSzPts val="1800"/>
              <a:buAutoNum type="arabicPeriod"/>
            </a:pPr>
            <a:r>
              <a:rPr lang="en"/>
              <a:t>For each edge:</a:t>
            </a:r>
            <a:endParaRPr/>
          </a:p>
          <a:p>
            <a:pPr indent="-317500" lvl="1" marL="914400" rtl="0" algn="l">
              <a:spcBef>
                <a:spcPts val="0"/>
              </a:spcBef>
              <a:spcAft>
                <a:spcPts val="0"/>
              </a:spcAft>
              <a:buSzPts val="1400"/>
              <a:buAutoNum type="alphaLcPeriod"/>
            </a:pPr>
            <a:r>
              <a:rPr lang="en"/>
              <a:t>Get the destination node, and it’s distance plus the current distance, and a check if the node has been visited yet.</a:t>
            </a:r>
            <a:endParaRPr/>
          </a:p>
          <a:p>
            <a:pPr indent="-317500" lvl="1" marL="914400" rtl="0" algn="l">
              <a:spcBef>
                <a:spcPts val="0"/>
              </a:spcBef>
              <a:spcAft>
                <a:spcPts val="0"/>
              </a:spcAft>
              <a:buSzPts val="1400"/>
              <a:buAutoNum type="alphaLcPeriod"/>
            </a:pPr>
            <a:r>
              <a:rPr lang="en"/>
              <a:t>If that distance is less that the given distance in the hashmap or it hasn’t been visited yet:</a:t>
            </a:r>
            <a:endParaRPr/>
          </a:p>
          <a:p>
            <a:pPr indent="-317500" lvl="2" marL="1371600" rtl="0" algn="l">
              <a:spcBef>
                <a:spcPts val="0"/>
              </a:spcBef>
              <a:spcAft>
                <a:spcPts val="0"/>
              </a:spcAft>
              <a:buSzPts val="1400"/>
              <a:buAutoNum type="romanLcPeriod"/>
            </a:pPr>
            <a:r>
              <a:rPr lang="en"/>
              <a:t>Change the hashmap cost, set the current as the previous node, add the node to the visited vector, and push in the new value and the node to the heap.</a:t>
            </a:r>
            <a:endParaRPr/>
          </a:p>
          <a:p>
            <a:pPr indent="0" lvl="0" marL="0" rtl="0" algn="l">
              <a:spcBef>
                <a:spcPts val="0"/>
              </a:spcBef>
              <a:spcAft>
                <a:spcPts val="1200"/>
              </a:spcAft>
              <a:buNone/>
            </a:pPr>
            <a:r>
              <a:rPr lang="en"/>
              <a:t>When the target is found, a vector is created, connecting the route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Full Route </a:t>
            </a:r>
            <a:r>
              <a:rPr lang="en"/>
              <a:t>Itinerary</a:t>
            </a:r>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The Rover will head west, and go over a mix of rocky and sandy terrain, before heading into the mountains to reach </a:t>
            </a:r>
            <a:r>
              <a:rPr b="1" lang="en"/>
              <a:t>Valles Zeta</a:t>
            </a:r>
            <a:endParaRPr b="1"/>
          </a:p>
          <a:p>
            <a:pPr indent="-334327" lvl="0" marL="457200" rtl="0" algn="l">
              <a:spcBef>
                <a:spcPts val="1000"/>
              </a:spcBef>
              <a:spcAft>
                <a:spcPts val="0"/>
              </a:spcAft>
              <a:buSzPct val="100000"/>
              <a:buChar char="●"/>
            </a:pPr>
            <a:r>
              <a:rPr lang="en"/>
              <a:t>From there, the Rover will descend from the mountain, back down to rocks and sand. It will continue south until it reaches another set of mountains before reaching </a:t>
            </a:r>
            <a:r>
              <a:rPr b="1" lang="en"/>
              <a:t>Olympus Langrenus</a:t>
            </a:r>
            <a:r>
              <a:rPr lang="en"/>
              <a:t>, within a crater.</a:t>
            </a:r>
            <a:endParaRPr/>
          </a:p>
          <a:p>
            <a:pPr indent="-334327" lvl="0" marL="457200" rtl="0" algn="l">
              <a:spcBef>
                <a:spcPts val="1000"/>
              </a:spcBef>
              <a:spcAft>
                <a:spcPts val="0"/>
              </a:spcAft>
              <a:buSzPct val="100000"/>
              <a:buChar char="●"/>
            </a:pPr>
            <a:r>
              <a:rPr lang="en"/>
              <a:t>The Rover will head north, past the craters and mountains, moving on rocks and sand. It will pass the </a:t>
            </a:r>
            <a:r>
              <a:rPr i="1" lang="en"/>
              <a:t>Sea of Theta</a:t>
            </a:r>
            <a:r>
              <a:rPr lang="en"/>
              <a:t> it arrives at </a:t>
            </a:r>
            <a:r>
              <a:rPr b="1" lang="en"/>
              <a:t>Crater Tycho</a:t>
            </a:r>
            <a:endParaRPr b="1"/>
          </a:p>
          <a:p>
            <a:pPr indent="-334327" lvl="0" marL="457200" rtl="0" algn="l">
              <a:spcBef>
                <a:spcPts val="1000"/>
              </a:spcBef>
              <a:spcAft>
                <a:spcPts val="0"/>
              </a:spcAft>
              <a:buSzPct val="100000"/>
              <a:buChar char="●"/>
            </a:pPr>
            <a:r>
              <a:rPr lang="en"/>
              <a:t>The Rover will head south and avoid the mountains before it reaches </a:t>
            </a:r>
            <a:r>
              <a:rPr b="1" lang="en"/>
              <a:t>Valles Gamma</a:t>
            </a:r>
            <a:endParaRPr b="1"/>
          </a:p>
          <a:p>
            <a:pPr indent="-334327" lvl="0" marL="457200" rtl="0" algn="l">
              <a:spcBef>
                <a:spcPts val="1000"/>
              </a:spcBef>
              <a:spcAft>
                <a:spcPts val="1000"/>
              </a:spcAft>
              <a:buSzPct val="100000"/>
              <a:buChar char="●"/>
            </a:pPr>
            <a:r>
              <a:rPr lang="en"/>
              <a:t>The Rover will head northwest before going down, avoiding mountains again as it ends its journey at the </a:t>
            </a:r>
            <a:r>
              <a:rPr b="1" lang="en"/>
              <a:t>Sea of Theta</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