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1" r:id="rId1"/>
  </p:sldMasterIdLst>
  <p:sldIdLst>
    <p:sldId id="256" r:id="rId2"/>
    <p:sldId id="257" r:id="rId3"/>
    <p:sldId id="258" r:id="rId4"/>
    <p:sldId id="262" r:id="rId5"/>
    <p:sldId id="263"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D55D39-26C2-D663-30AE-51A4086F3A1E}" v="1700" dt="2025-04-11T20:14:12.467"/>
    <p1510:client id="{42B8F682-D78C-993D-9F75-019F4F812EC2}" v="1446" dt="2025-04-11T20:14:17.2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06D8BB37-67E1-420F-B488-3DE93FA3DF1F}" type="datetimeFigureOut">
              <a:rPr lang="en-US" dirty="0"/>
              <a:t>4/11/2025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
        <p:nvSpPr>
          <p:cNvPr id="11" name="Rectangle 10"/>
          <p:cNvSpPr/>
          <p:nvPr/>
        </p:nvSpPr>
        <p:spPr>
          <a:xfrm>
            <a:off x="11292840" y="0"/>
            <a:ext cx="9144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790897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68EC8D-9508-4A2C-8FBC-4C089BA52EE5}" type="datetimeFigureOut">
              <a:rPr lang="en-US" dirty="0"/>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660165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7A1C89-C29A-4D79-B5A1-1F424905E9A1}" type="datetimeFigureOut">
              <a:rPr lang="en-US" dirty="0"/>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8" name="Rectangle 7"/>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48032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ECC248-0691-4AB1-BB8B-882D656FF160}" type="datetimeFigureOut">
              <a:rPr lang="en-US" dirty="0"/>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73695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21606"/>
            <a:ext cx="4480560" cy="731520"/>
          </a:xfrm>
        </p:spPr>
        <p:txBody>
          <a:bodyPr anchor="b">
            <a:normAutofit/>
          </a:bodyPr>
          <a:lstStyle>
            <a:lvl1pPr marL="0" indent="0">
              <a:spcBef>
                <a:spcPts val="0"/>
              </a:spcBef>
              <a:buNone/>
              <a:defRPr sz="2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3"/>
          </p:nvPr>
        </p:nvSpPr>
        <p:spPr>
          <a:xfrm>
            <a:off x="6126480" y="1721606"/>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E54B09-E178-460F-B46D-023FA9745608}" type="datetimeFigureOut">
              <a:rPr lang="en-US" dirty="0"/>
              <a:t>4/11/2025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784179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CD62E06-21B3-4A3D-A6C8-F0DFEB8AB04D}" type="datetimeFigureOut">
              <a:rPr lang="en-US" dirty="0"/>
              <a:t>4/11/2025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80804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7CC01-41FD-4607-B8B1-976991065B2D}" type="datetimeFigureOut">
              <a:rPr lang="en-US" dirty="0"/>
              <a:t>4/11/2025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84013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1"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6740A7-C153-476A-BA27-5BE657EA7C21}" type="datetimeFigureOut">
              <a:rPr lang="en-US" dirty="0"/>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03565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a:solidFill>
                  <a:schemeClr val="accent1">
                    <a:lumMod val="20000"/>
                    <a:lumOff val="8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86C2EC-F3EA-4AFE-88D7-51A6BBFDBA8B}" type="datetimeFigureOut">
              <a:rPr lang="en-US" dirty="0"/>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81818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B96382-B15D-466F-9E7D-0603461872B7}" type="datetimeFigureOut">
              <a:rPr lang="en-US" dirty="0"/>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802121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8672AE-FC7B-40BA-8844-0693A2434617}" type="datetimeFigureOut">
              <a:rPr lang="en-US" dirty="0"/>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7744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62393"/>
            <a:ext cx="9692640" cy="1428929"/>
          </a:xfrm>
          <a:prstGeom prst="rect">
            <a:avLst/>
          </a:prstGeom>
        </p:spPr>
        <p:txBody>
          <a:bodyPr vert="horz" lIns="91440" tIns="27432"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100" b="0">
                <a:solidFill>
                  <a:schemeClr val="tx2">
                    <a:lumMod val="40000"/>
                    <a:lumOff val="60000"/>
                  </a:schemeClr>
                </a:solidFill>
              </a:defRPr>
            </a:lvl1pPr>
          </a:lstStyle>
          <a:p>
            <a:fld id="{BF2EAB5F-78EB-45CA-9E26-D1BAA0AA6EEC}" type="datetimeFigureOut">
              <a:rPr lang="en-US" dirty="0"/>
              <a:t>4/11/2025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100">
                <a:solidFill>
                  <a:schemeClr val="tx2">
                    <a:lumMod val="40000"/>
                    <a:lumOff val="6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mj-lt"/>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424940594"/>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Lst>
  <p:hf sldNum="0" hdr="0" ftr="0" dt="0"/>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Llama AI</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Tori and Crook</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D1A19-E284-8A2E-D5E2-97FBDA3888CD}"/>
              </a:ext>
            </a:extLst>
          </p:cNvPr>
          <p:cNvSpPr>
            <a:spLocks noGrp="1"/>
          </p:cNvSpPr>
          <p:nvPr>
            <p:ph type="title"/>
          </p:nvPr>
        </p:nvSpPr>
        <p:spPr/>
        <p:txBody>
          <a:bodyPr/>
          <a:lstStyle/>
          <a:p>
            <a:r>
              <a:rPr lang="en-US" dirty="0"/>
              <a:t>Thesis</a:t>
            </a:r>
          </a:p>
        </p:txBody>
      </p:sp>
      <p:sp>
        <p:nvSpPr>
          <p:cNvPr id="3" name="Content Placeholder 2">
            <a:extLst>
              <a:ext uri="{FF2B5EF4-FFF2-40B4-BE49-F238E27FC236}">
                <a16:creationId xmlns:a16="http://schemas.microsoft.com/office/drawing/2014/main" id="{E2750B7A-BBA1-80FE-258A-2B9E544FE5EC}"/>
              </a:ext>
            </a:extLst>
          </p:cNvPr>
          <p:cNvSpPr>
            <a:spLocks noGrp="1"/>
          </p:cNvSpPr>
          <p:nvPr>
            <p:ph idx="1"/>
          </p:nvPr>
        </p:nvSpPr>
        <p:spPr>
          <a:xfrm>
            <a:off x="1261872" y="1828800"/>
            <a:ext cx="8595360" cy="4119424"/>
          </a:xfrm>
        </p:spPr>
        <p:txBody>
          <a:bodyPr vert="horz" lIns="91440" tIns="45720" rIns="91440" bIns="45720" rtlCol="0" anchor="t">
            <a:normAutofit/>
          </a:bodyPr>
          <a:lstStyle/>
          <a:p>
            <a:pPr marL="0" indent="0">
              <a:buNone/>
            </a:pPr>
            <a:r>
              <a:rPr lang="en-US">
                <a:latin typeface="Century Schoolbook"/>
              </a:rPr>
              <a:t>Meta's AI Llama raises concerns on its lack of transparency on how their data is used, and that it is available for certain parties, one being the US government. The gatekeeping and privacy issues between the US government and Meta (or other similar companies) leads to ethical concerns when it comes to their partnerships. We believe using Llama AI in this way is unethical.</a:t>
            </a:r>
          </a:p>
          <a:p>
            <a:pPr marL="0" indent="0">
              <a:buNone/>
            </a:pPr>
            <a:endParaRPr lang="en-US" sz="3000" dirty="0">
              <a:solidFill>
                <a:srgbClr val="000000"/>
              </a:solidFill>
              <a:latin typeface="Avenir Next LT Pro Light"/>
            </a:endParaRPr>
          </a:p>
        </p:txBody>
      </p:sp>
    </p:spTree>
    <p:extLst>
      <p:ext uri="{BB962C8B-B14F-4D97-AF65-F5344CB8AC3E}">
        <p14:creationId xmlns:p14="http://schemas.microsoft.com/office/powerpoint/2010/main" val="1671468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D5A28-3049-5DED-8CBC-CB7C295675C6}"/>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E9585919-D129-685B-0B95-6BD2DA23023D}"/>
              </a:ext>
            </a:extLst>
          </p:cNvPr>
          <p:cNvSpPr>
            <a:spLocks noGrp="1"/>
          </p:cNvSpPr>
          <p:nvPr>
            <p:ph idx="1"/>
          </p:nvPr>
        </p:nvSpPr>
        <p:spPr/>
        <p:txBody>
          <a:bodyPr vert="horz" lIns="91440" tIns="45720" rIns="91440" bIns="45720" rtlCol="0" anchor="t">
            <a:normAutofit/>
          </a:bodyPr>
          <a:lstStyle/>
          <a:p>
            <a:r>
              <a:rPr lang="en-US" dirty="0"/>
              <a:t>Llama AI claims to be open source while it is not, only available to the US government</a:t>
            </a:r>
          </a:p>
          <a:p>
            <a:r>
              <a:rPr lang="en-US" dirty="0"/>
              <a:t>Unclear on how Llama does its data sharing</a:t>
            </a:r>
          </a:p>
          <a:p>
            <a:r>
              <a:rPr lang="en-US" dirty="0"/>
              <a:t>Emerged during US-China trade war with strict control over AI </a:t>
            </a:r>
          </a:p>
          <a:p>
            <a:r>
              <a:rPr lang="en-US" dirty="0"/>
              <a:t>Training data private (for now...)</a:t>
            </a:r>
          </a:p>
          <a:p>
            <a:r>
              <a:rPr lang="en-US" dirty="0"/>
              <a:t>Previous issues between US govt and Meta</a:t>
            </a:r>
          </a:p>
          <a:p>
            <a:r>
              <a:rPr lang="en-US" dirty="0"/>
              <a:t>The AI could be applied to </a:t>
            </a:r>
            <a:r>
              <a:rPr lang="en-US" dirty="0">
                <a:ea typeface="+mn-lt"/>
                <a:cs typeface="+mn-lt"/>
              </a:rPr>
              <a:t>cybersecurity, defense, utilities, and transportation</a:t>
            </a:r>
            <a:endParaRPr lang="en-US" dirty="0"/>
          </a:p>
        </p:txBody>
      </p:sp>
    </p:spTree>
    <p:extLst>
      <p:ext uri="{BB962C8B-B14F-4D97-AF65-F5344CB8AC3E}">
        <p14:creationId xmlns:p14="http://schemas.microsoft.com/office/powerpoint/2010/main" val="569787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16CD0-17A4-FDAE-5ACF-6ED174360CE9}"/>
              </a:ext>
            </a:extLst>
          </p:cNvPr>
          <p:cNvSpPr>
            <a:spLocks noGrp="1"/>
          </p:cNvSpPr>
          <p:nvPr>
            <p:ph type="title"/>
          </p:nvPr>
        </p:nvSpPr>
        <p:spPr/>
        <p:txBody>
          <a:bodyPr/>
          <a:lstStyle/>
          <a:p>
            <a:r>
              <a:rPr lang="en-US" dirty="0"/>
              <a:t>Ethical Situations and Dilemmas</a:t>
            </a:r>
          </a:p>
        </p:txBody>
      </p:sp>
      <p:sp>
        <p:nvSpPr>
          <p:cNvPr id="3" name="Content Placeholder 2">
            <a:extLst>
              <a:ext uri="{FF2B5EF4-FFF2-40B4-BE49-F238E27FC236}">
                <a16:creationId xmlns:a16="http://schemas.microsoft.com/office/drawing/2014/main" id="{A410BD52-1B83-73F1-8581-477C39A0AE4D}"/>
              </a:ext>
            </a:extLst>
          </p:cNvPr>
          <p:cNvSpPr>
            <a:spLocks noGrp="1"/>
          </p:cNvSpPr>
          <p:nvPr>
            <p:ph idx="1"/>
          </p:nvPr>
        </p:nvSpPr>
        <p:spPr/>
        <p:txBody>
          <a:bodyPr vert="horz" lIns="91440" tIns="45720" rIns="91440" bIns="45720" rtlCol="0" anchor="t">
            <a:normAutofit/>
          </a:bodyPr>
          <a:lstStyle/>
          <a:p>
            <a:r>
              <a:rPr lang="en-US" dirty="0"/>
              <a:t>Unclear how AI's data is being used (could it harm users?)</a:t>
            </a:r>
          </a:p>
          <a:p>
            <a:pPr lvl="1">
              <a:buFont typeface="Courier New" pitchFamily="18" charset="2"/>
              <a:buChar char="o"/>
            </a:pPr>
            <a:r>
              <a:rPr lang="en-US" dirty="0"/>
              <a:t>Is the data protected and who owns it?</a:t>
            </a:r>
            <a:endParaRPr lang="en-US"/>
          </a:p>
          <a:p>
            <a:pPr lvl="1">
              <a:buFont typeface="Courier New" pitchFamily="18" charset="2"/>
              <a:buChar char="o"/>
            </a:pPr>
            <a:r>
              <a:rPr lang="en-US" dirty="0"/>
              <a:t>What user data is kept private and what is not?</a:t>
            </a:r>
          </a:p>
          <a:p>
            <a:r>
              <a:rPr lang="en-US" dirty="0"/>
              <a:t>Should AI be in most/all public sector services?</a:t>
            </a:r>
          </a:p>
          <a:p>
            <a:pPr lvl="1">
              <a:buFont typeface="Courier New" pitchFamily="18" charset="2"/>
              <a:buChar char="o"/>
            </a:pPr>
            <a:r>
              <a:rPr lang="en-US" dirty="0"/>
              <a:t>Why is it being gatekept even within the government?</a:t>
            </a:r>
          </a:p>
          <a:p>
            <a:pPr lvl="1">
              <a:buFont typeface="Courier New" pitchFamily="18" charset="2"/>
              <a:buChar char="o"/>
            </a:pPr>
            <a:r>
              <a:rPr lang="en-US" dirty="0"/>
              <a:t>Does withholding from other countries fuel any growing tensions?</a:t>
            </a:r>
          </a:p>
          <a:p>
            <a:r>
              <a:rPr lang="en-US" spc="0" dirty="0"/>
              <a:t>How will government and companies partnering effect how our legislature works?</a:t>
            </a:r>
          </a:p>
          <a:p>
            <a:pPr lvl="1">
              <a:buFont typeface="Courier New" pitchFamily="34" charset="0"/>
              <a:buChar char="o"/>
            </a:pPr>
            <a:r>
              <a:rPr lang="en-US" dirty="0"/>
              <a:t>Should the government have the access that we give to other, non-government, companies?</a:t>
            </a:r>
            <a:endParaRPr lang="en-US" spc="0" dirty="0"/>
          </a:p>
          <a:p>
            <a:pPr marL="274320" lvl="1" indent="0">
              <a:buNone/>
            </a:pPr>
            <a:endParaRPr lang="en-US"/>
          </a:p>
        </p:txBody>
      </p:sp>
    </p:spTree>
    <p:extLst>
      <p:ext uri="{BB962C8B-B14F-4D97-AF65-F5344CB8AC3E}">
        <p14:creationId xmlns:p14="http://schemas.microsoft.com/office/powerpoint/2010/main" val="2434441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031E2-A18F-46AD-4774-59A7F59B6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E84F3-0DBC-832F-CEF6-BDE572AE7ADC}"/>
              </a:ext>
            </a:extLst>
          </p:cNvPr>
          <p:cNvSpPr>
            <a:spLocks noGrp="1"/>
          </p:cNvSpPr>
          <p:nvPr>
            <p:ph type="title"/>
          </p:nvPr>
        </p:nvSpPr>
        <p:spPr/>
        <p:txBody>
          <a:bodyPr>
            <a:normAutofit/>
          </a:bodyPr>
          <a:lstStyle/>
          <a:p>
            <a:r>
              <a:rPr lang="en-US" dirty="0"/>
              <a:t>Ethical Analysis - Kantianism</a:t>
            </a:r>
            <a:br>
              <a:rPr lang="en-US" dirty="0"/>
            </a:br>
            <a:r>
              <a:rPr lang="en-US" sz="2500" dirty="0">
                <a:ea typeface="+mj-lt"/>
                <a:cs typeface="+mj-lt"/>
              </a:rPr>
              <a:t>Is it ethical for the government to partner with Meta?</a:t>
            </a:r>
            <a:endParaRPr lang="en-US" sz="2500" dirty="0"/>
          </a:p>
        </p:txBody>
      </p:sp>
      <p:sp>
        <p:nvSpPr>
          <p:cNvPr id="3" name="Content Placeholder 2">
            <a:extLst>
              <a:ext uri="{FF2B5EF4-FFF2-40B4-BE49-F238E27FC236}">
                <a16:creationId xmlns:a16="http://schemas.microsoft.com/office/drawing/2014/main" id="{1C2AC50B-6541-AA99-F61E-15A98731163C}"/>
              </a:ext>
            </a:extLst>
          </p:cNvPr>
          <p:cNvSpPr>
            <a:spLocks noGrp="1"/>
          </p:cNvSpPr>
          <p:nvPr>
            <p:ph idx="1"/>
          </p:nvPr>
        </p:nvSpPr>
        <p:spPr/>
        <p:txBody>
          <a:bodyPr vert="horz" lIns="91440" tIns="45720" rIns="91440" bIns="45720" rtlCol="0" anchor="t">
            <a:noAutofit/>
          </a:bodyPr>
          <a:lstStyle/>
          <a:p>
            <a:pPr marL="0" indent="0">
              <a:buNone/>
            </a:pPr>
            <a:r>
              <a:rPr lang="en-US"/>
              <a:t>Course of Action - The US government and Meta wants to use Llama while their data usage is kept unknown</a:t>
            </a:r>
          </a:p>
          <a:p>
            <a:pPr marL="0" indent="0">
              <a:buNone/>
            </a:pPr>
            <a:r>
              <a:rPr lang="en-US"/>
              <a:t>Maxim – Any government is allowed to partner with companies to take private data from citizens without consent or being informed. </a:t>
            </a:r>
          </a:p>
          <a:p>
            <a:pPr marL="0" indent="0">
              <a:buNone/>
            </a:pPr>
            <a:r>
              <a:rPr lang="en-US"/>
              <a:t>Would this violate existing legislation about surveillance and privacy?</a:t>
            </a:r>
          </a:p>
          <a:p>
            <a:pPr marL="0" indent="0">
              <a:buNone/>
            </a:pPr>
            <a:endParaRPr lang="en-US"/>
          </a:p>
        </p:txBody>
      </p:sp>
    </p:spTree>
    <p:extLst>
      <p:ext uri="{BB962C8B-B14F-4D97-AF65-F5344CB8AC3E}">
        <p14:creationId xmlns:p14="http://schemas.microsoft.com/office/powerpoint/2010/main" val="1337069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5F6D6-E07A-D681-1B81-4E288954E9AD}"/>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00AAC338-84BB-7E04-3D65-2C283B311466}"/>
              </a:ext>
            </a:extLst>
          </p:cNvPr>
          <p:cNvSpPr>
            <a:spLocks noGrp="1"/>
          </p:cNvSpPr>
          <p:nvPr>
            <p:ph idx="1"/>
          </p:nvPr>
        </p:nvSpPr>
        <p:spPr/>
        <p:txBody>
          <a:bodyPr vert="horz" lIns="91440" tIns="45720" rIns="91440" bIns="45720" rtlCol="0" anchor="t">
            <a:normAutofit/>
          </a:bodyPr>
          <a:lstStyle/>
          <a:p>
            <a:pPr marL="0" indent="0">
              <a:buNone/>
            </a:pPr>
            <a:r>
              <a:rPr lang="en-US" dirty="0"/>
              <a:t>The US government using Meta's Llama for cyber and national securities does not seem to be ethical. Using the Kantianism method of universalizing, we determined that if the actions of the government or Meta were expanded, it would create </a:t>
            </a:r>
            <a:r>
              <a:rPr lang="en-US"/>
              <a:t>negative ethical </a:t>
            </a:r>
            <a:r>
              <a:rPr lang="en-US" dirty="0"/>
              <a:t>and privacy issues.</a:t>
            </a:r>
          </a:p>
        </p:txBody>
      </p:sp>
    </p:spTree>
    <p:extLst>
      <p:ext uri="{BB962C8B-B14F-4D97-AF65-F5344CB8AC3E}">
        <p14:creationId xmlns:p14="http://schemas.microsoft.com/office/powerpoint/2010/main" val="1069733490"/>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666666"/>
      </a:dk2>
      <a:lt2>
        <a:srgbClr val="D2D2D2"/>
      </a:lt2>
      <a:accent1>
        <a:srgbClr val="FF388C"/>
      </a:accent1>
      <a:accent2>
        <a:srgbClr val="D70D5E"/>
      </a:accent2>
      <a:accent3>
        <a:srgbClr val="98037E"/>
      </a:accent3>
      <a:accent4>
        <a:srgbClr val="68027D"/>
      </a:accent4>
      <a:accent5>
        <a:srgbClr val="095ACA"/>
      </a:accent5>
      <a:accent6>
        <a:srgbClr val="063597"/>
      </a:accent6>
      <a:hlink>
        <a:srgbClr val="17BBFD"/>
      </a:hlink>
      <a:folHlink>
        <a:srgbClr val="FF79C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23C5FE65-18CC-4A65-9EBC-B05E331504EC}"/>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View</vt:lpstr>
      <vt:lpstr>Llama AI</vt:lpstr>
      <vt:lpstr>Thesis</vt:lpstr>
      <vt:lpstr>Overview</vt:lpstr>
      <vt:lpstr>Ethical Situations and Dilemmas</vt:lpstr>
      <vt:lpstr>Ethical Analysis - Kantianism Is it ethical for the government to partner with Meta?</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1094</cp:revision>
  <dcterms:created xsi:type="dcterms:W3CDTF">2025-04-09T15:45:08Z</dcterms:created>
  <dcterms:modified xsi:type="dcterms:W3CDTF">2025-04-11T20:14:53Z</dcterms:modified>
</cp:coreProperties>
</file>